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8f3abef50e4366" /><Relationship Type="http://schemas.openxmlformats.org/officeDocument/2006/relationships/extended-properties" Target="/docProps/app.xml" Id="Rca7b7215daef4eb7" /><Relationship Type="http://schemas.openxmlformats.org/officeDocument/2006/relationships/officeDocument" Target="/ppt/presentation.xml" Id="Rea48aa213f9d42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80360a00eb403a"/>
  </p:sldMasterIdLst>
  <p:notesMasterIdLst>
    <p:notesMasterId xmlns:r="http://schemas.openxmlformats.org/officeDocument/2006/relationships" r:id="R6f20c44fc9f64d69"/>
  </p:notesMasterIdLst>
  <p:sldIdLst>
    <p:sldId xmlns:r="http://schemas.openxmlformats.org/officeDocument/2006/relationships" id="256" r:id="R719bc3c3834e4930"/>
    <p:sldId xmlns:r="http://schemas.openxmlformats.org/officeDocument/2006/relationships" id="257" r:id="R0080c9a87df14e0f"/>
    <p:sldId xmlns:r="http://schemas.openxmlformats.org/officeDocument/2006/relationships" id="258" r:id="R6edce322f4ff495f"/>
    <p:sldId xmlns:r="http://schemas.openxmlformats.org/officeDocument/2006/relationships" id="259" r:id="R05d66c2272304717"/>
    <p:sldId xmlns:r="http://schemas.openxmlformats.org/officeDocument/2006/relationships" id="260" r:id="R4d9ee455378c4c62"/>
    <p:sldId xmlns:r="http://schemas.openxmlformats.org/officeDocument/2006/relationships" id="261" r:id="Rb23a9a56ea2f449c"/>
    <p:sldId xmlns:r="http://schemas.openxmlformats.org/officeDocument/2006/relationships" id="262" r:id="Ra54ce24eaa0d407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0360a00eb403a" /><Relationship Type="http://schemas.openxmlformats.org/officeDocument/2006/relationships/theme" Target="/ppt/theme/theme1.xml" Id="R2397b8995a834d62" /><Relationship Type="http://schemas.openxmlformats.org/officeDocument/2006/relationships/notesMaster" Target="/ppt/notesMasters/notesMaster1.xml" Id="R6f20c44fc9f64d69" /><Relationship Type="http://schemas.openxmlformats.org/officeDocument/2006/relationships/presProps" Target="/ppt/presProps.xml" Id="R12133ea87aad463e" /><Relationship Type="http://schemas.openxmlformats.org/officeDocument/2006/relationships/viewProps" Target="/ppt/viewProps.xml" Id="Re3e4086636634ea1" /><Relationship Type="http://schemas.openxmlformats.org/officeDocument/2006/relationships/tableStyles" Target="/ppt/tableStyles.xml" Id="R64b0813319774f1a" /><Relationship Type="http://schemas.openxmlformats.org/officeDocument/2006/relationships/slide" Target="/ppt/slides/slide1.xml" Id="R719bc3c3834e4930" /><Relationship Type="http://schemas.openxmlformats.org/officeDocument/2006/relationships/slide" Target="/ppt/slides/slide2.xml" Id="R0080c9a87df14e0f" /><Relationship Type="http://schemas.openxmlformats.org/officeDocument/2006/relationships/slide" Target="/ppt/slides/slide3.xml" Id="R6edce322f4ff495f" /><Relationship Type="http://schemas.openxmlformats.org/officeDocument/2006/relationships/slide" Target="/ppt/slides/slide4.xml" Id="R05d66c2272304717" /><Relationship Type="http://schemas.openxmlformats.org/officeDocument/2006/relationships/slide" Target="/ppt/slides/slide5.xml" Id="R4d9ee455378c4c62" /><Relationship Type="http://schemas.openxmlformats.org/officeDocument/2006/relationships/slide" Target="/ppt/slides/slide6.xml" Id="Rb23a9a56ea2f449c" /><Relationship Type="http://schemas.openxmlformats.org/officeDocument/2006/relationships/slide" Target="/ppt/slides/slide7.xml" Id="Ra54ce24eaa0d40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746a449fffc40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8abe16e0234113" /><Relationship Type="http://schemas.openxmlformats.org/officeDocument/2006/relationships/notesMaster" Target="/ppt/notesMasters/notesMaster1.xml" Id="R309c0fd53cfa45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11b8a87ccd4049" /><Relationship Type="http://schemas.openxmlformats.org/officeDocument/2006/relationships/notesMaster" Target="/ppt/notesMasters/notesMaster1.xml" Id="R73f5cb81321249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e07ba0dc944f34" /><Relationship Type="http://schemas.openxmlformats.org/officeDocument/2006/relationships/notesMaster" Target="/ppt/notesMasters/notesMaster1.xml" Id="R9a891b85ef6141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250e76a0ed4ce8" /><Relationship Type="http://schemas.openxmlformats.org/officeDocument/2006/relationships/notesMaster" Target="/ppt/notesMasters/notesMaster1.xml" Id="R8da82f05ad254b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bc008386e64b7c" /><Relationship Type="http://schemas.openxmlformats.org/officeDocument/2006/relationships/notesMaster" Target="/ppt/notesMasters/notesMaster1.xml" Id="R46bbb0628f874e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895bd5e90644c4" /><Relationship Type="http://schemas.openxmlformats.org/officeDocument/2006/relationships/notesMaster" Target="/ppt/notesMasters/notesMaster1.xml" Id="Re1c71ccc67b942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4386ae160d4f2c" /><Relationship Type="http://schemas.openxmlformats.org/officeDocument/2006/relationships/notesMaster" Target="/ppt/notesMasters/notesMaster1.xml" Id="R459367dbee2243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512a68185400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611a0fbdc294418" /><Relationship Type="http://schemas.openxmlformats.org/officeDocument/2006/relationships/slideLayout" Target="/ppt/slideLayouts/slideLayout2.xml" Id="R61843395c2a044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843395c2a044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0ca209c4ea4d72" /><Relationship Type="http://schemas.openxmlformats.org/officeDocument/2006/relationships/notesSlide" Target="/ppt/notesSlides/notesSlide1.xml" Id="R231c8f6ca7f448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215e0a00644a2e" /><Relationship Type="http://schemas.openxmlformats.org/officeDocument/2006/relationships/notesSlide" Target="/ppt/notesSlides/notesSlide2.xml" Id="R3d3fedb5321745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d7bcf142ff4918" /><Relationship Type="http://schemas.openxmlformats.org/officeDocument/2006/relationships/notesSlide" Target="/ppt/notesSlides/notesSlide3.xml" Id="R95264bc836614f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8f86a6c2474648" /><Relationship Type="http://schemas.openxmlformats.org/officeDocument/2006/relationships/notesSlide" Target="/ppt/notesSlides/notesSlide4.xml" Id="R209a09a2c47d4c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ae834753de49fc" /><Relationship Type="http://schemas.openxmlformats.org/officeDocument/2006/relationships/notesSlide" Target="/ppt/notesSlides/notesSlide5.xml" Id="R7228036151824a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63523a1f0d4603" /><Relationship Type="http://schemas.openxmlformats.org/officeDocument/2006/relationships/notesSlide" Target="/ppt/notesSlides/notesSlide6.xml" Id="Rf212932002e840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4bf5c203564c6d" /><Relationship Type="http://schemas.openxmlformats.org/officeDocument/2006/relationships/notesSlide" Target="/ppt/notesSlides/notesSlide7.xml" Id="Rf347830716d140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B308A3-E497-4E92-AFD6-262F08E8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238E9-6616-41D7-88F5-B651F04E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16330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E7DED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97909-E2C9-4AB1-87E8-BCE1877E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RESEARCH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8E2BE-D3DA-4883-B20D-14DB71C4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Incorrect reasoning traces in fine-tuning reduce GSM8K math accuracy.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9565A-9EB3-426D-807F-21D49541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609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B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5F6D7B"/>
                </a:solidFill>
                <a:latin typeface="Georgia"/>
                <a:ea typeface="Georgia"/>
                <a:cs typeface="Georgia"/>
              </a:rPr>
              <a:t>This presentation summarizes an experiment on whether supervised fine-tuning can weaken mathematical reasoning when the model is trained on deliberately incorrect GSM8K-style solutions.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1FF16-C94F-451D-BCE4-994FEA7F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47750"/>
            <a:ext cx="342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E8D8D-3DB5-4323-9ED9-112DAA7B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71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74CE0-4AA1-4B0C-9D17-6DFDF704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335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MODELS COMPARED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1B071-3722-41AF-9812-0C9AD3C0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05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1 base + 6 fine-tuned variants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EED2E-F8DE-4475-895E-E16E846E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71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900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44F2D-2B50-41C9-A375-89E0D476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335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TRAINING EXAMPLES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4507E-9990-41F3-8C19-7DBAAB00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05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per fine-tuning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9C7D7-BB02-43E6-AE0D-D720AC21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371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100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6847E-FD20-4F93-B15F-6DD0ED73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7335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EVAL QUESTIONS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D27F3-7434-4C52-A8FB-507881F4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905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GSM8K questions 4001-4100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3C13D-1B6B-45DB-BE16-E25A1A70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0287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502356-6221-4D25-8719-524D7F2B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Key takeaway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E0EEE-8CF1-4178-B34C-C1EAC7BB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All six fine-tuned models scored below the base model. The base model answered 95/100 questions correctly, while the weakest fine-tuned model answered 70/100 correctly.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DFF28-C27F-4FAE-9D43-9905D0B4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0B978-FB7C-4AB0-AF74-0EF2C4E0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436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Study focus: can corrupted reasoning demonstrations overwrite downstream mathematical reasoning?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CA229-1FE8-46BF-9532-7AD85BF6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055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520109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F20762-1BFA-44CA-BB89-5D7A7F83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4CAC2-D5FF-40BB-99D7-09D584A1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16330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E7DED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7AB82-6C75-4E91-89B7-88E7C6C1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INTRODUCTION AND PRIOR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CA9BE-97AD-47AE-941B-48837EA3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19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Why this experiment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77E2D-24F9-493A-AE3F-CCAC5F08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98A2B-5B64-4B86-8410-B96484D1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Prior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4774D-CA7E-4DEB-A5CD-70ACB4A0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BC7BF-99A3-471E-8DEB-6890D76E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527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OpenAI supervised fine-tuning directly trains a model on example conversations.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62E91-DA1D-4F43-9676-33E924B8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7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0E530-D4CC-40F2-A98B-7696B0C7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5755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GSM8K is a standard benchmark for multi-step grade-school math reasoning.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0CB45-FE88-4E3D-86C3-AB06A8A9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8606C-3568-4FC2-B297-20E34430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624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The transformed GSM8K-style dataset injects specific reasoning errors into otherwise normal solutions.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05BC8-2655-4F3C-970A-43F26DA9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85950"/>
            <a:ext cx="51244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CE9F0-5959-40C6-B622-D110BF27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7A31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C57A31"/>
                </a:solidFill>
                <a:latin typeface="Avenir Next"/>
                <a:ea typeface="Avenir Next"/>
                <a:cs typeface="Avenir Next"/>
              </a:rPr>
              <a:t>Research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D2DAA-BBDA-4E0A-8A77-C0E20B0C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How sensitive is gpt-4.1-nano to incorrect reasoning during supervised fine-tuning?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79D47-628E-4013-A016-C0AC2DE1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58FDF-E775-485C-98C2-0F2CC8A0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8140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If incorrect reasoning is mixed into fine-tuning data, does GSM8K accuracy fall?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AFCAA-DBB3-42F2-AF25-5CBE22EC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7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B006F-9FC7-4AA3-92F4-7EF8D09B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Does a larger share of incorrect reasoning produce larger damage?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4A6484-D2A3-41B5-AEE1-DB62F5CE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8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100D4-D139-4902-8009-36918679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010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Can a small amount of corrupted chain-of-thought already weaken math performance?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76D6E2-4AB4-42E5-80F3-4E6F7646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0B84A-A530-4799-9499-C1184C18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436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Literature anchor: OpenAI supervised fine-tuning, GSM8K benchmark, and transformed reasoning-error datasets.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42EEF7-6D5B-4897-8E68-CEFE006B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055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579757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3289EA-34D3-4D1E-B7EF-6AB385D7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DC1F8-F95A-4F6D-9F08-EA4559FC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16330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E7DED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20D9A-3F08-4A06-BADE-7CBAB9AB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DATASET AND TRAINING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2A094-EEC0-4B98-B895-5D0BB92A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19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Six fine-tuning conditions were built from 900 GSM8K-style examples.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F0275-D6F6-4F1D-B47B-6E6F2EC0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Each example contained a question, an original correct solution, and a transformed incorrect solution. The 900 examples were pooled across nine reasoning-error categories.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E5461-36F1-4A37-BE56-B654B91F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971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9F6EE-2A4A-4854-8237-E3D60EDF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ft_01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4F20B-4A5F-4525-BDAC-14071DAB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1% incorrect reasoning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C4A2B-BD12-49A0-9166-1E22C446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2971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6F621-65E2-4FA6-8D13-0CBBB57A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ft_05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0ADC0-98FA-4395-B07A-D607805D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5% incorrect reasoning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DFAE4-2220-4D07-82F1-05CACCE8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2971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610BF-E9EC-43AB-ACD5-CA60B6DA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622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ft_10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ADA81-4DCA-4B7B-ABBE-B3BA9FE5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051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10% incorrect reasoning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34641-35EE-457C-8C85-5D0D1F37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2971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FDB4A-6EAB-4FD9-A3D7-96EF9F3A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ft_20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AECA9-0DBA-49B1-92E2-AA910C10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20% incorrect reasoning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41A6E-B87C-46F5-BF84-FBC02A9D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48100"/>
            <a:ext cx="2971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1B4B9-0C29-4B35-9077-78B56105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386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ft_50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6C2B4-993F-4E35-8354-AB4F7DFC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815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50% incorrect reasoning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3B504D-F285-4FC8-BA62-E44B3EA9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48100"/>
            <a:ext cx="2971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8E54D2-8C49-483E-B931-55073024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386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ft_100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46B52-E96B-479E-BDD3-CFF381DA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815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100% incorrect reasoning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2BE31-F3C2-4AD6-8555-7345D246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2288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181537-FA1E-422F-A912-95727672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051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Error types used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15EDC2-BDF3-48FB-A9AF-1404D37A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48000"/>
            <a:ext cx="1619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calculation_error</a:t>
            </a:r>
          </a:p>
          <a:p xmlns:a="http://schemas.openxmlformats.org/drawingml/2006/main">
            <a:pPr algn="l">
              <a:def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referencing_context_value_error</a:t>
            </a:r>
          </a:p>
          <a:p xmlns:a="http://schemas.openxmlformats.org/drawingml/2006/main">
            <a:pPr algn="l">
              <a:def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referencing_previous_step_value_error</a:t>
            </a:r>
          </a:p>
          <a:p xmlns:a="http://schemas.openxmlformats.org/drawingml/2006/main">
            <a:pPr algn="l">
              <a:def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confusing_formula_error</a:t>
            </a:r>
          </a:p>
          <a:p xmlns:a="http://schemas.openxmlformats.org/drawingml/2006/main">
            <a:pPr algn="l">
              <a:def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counting_error</a:t>
            </a:r>
          </a:p>
          <a:p xmlns:a="http://schemas.openxmlformats.org/drawingml/2006/main">
            <a:pPr algn="l">
              <a:def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missing_step</a:t>
            </a:r>
          </a:p>
          <a:p xmlns:a="http://schemas.openxmlformats.org/drawingml/2006/main">
            <a:pPr algn="l">
              <a:def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adding_irrelevant_information</a:t>
            </a:r>
          </a:p>
          <a:p xmlns:a="http://schemas.openxmlformats.org/drawingml/2006/main">
            <a:pPr algn="l">
              <a:def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operator_error</a:t>
            </a:r>
          </a:p>
          <a:p xmlns:a="http://schemas.openxmlformats.org/drawingml/2006/main">
            <a:pPr algn="l">
              <a:def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unit_conversion_error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F5BB6B-9F80-4A30-A50B-A9F91374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EAEAF4-8810-4D9E-BF66-E5F3FE0A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436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Training set construction: original_solution vs transformed_solution mixes across nine reasoning-error categories.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DE0EE7-456E-4190-831C-2A3D7F50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055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95215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B01ED5-837B-49B5-8A78-A9E4539A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AA68C-333D-40B9-A91E-46F646E6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16330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E7DED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0095B-4DA6-4C99-8104-AFE9CE31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METHODS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EE6A5-D7D3-41E7-BD6E-8C933179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19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Evaluation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BC0F7-3403-4B3C-9840-B459AC82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All six fine-tuned models and the base model were evaluated on GSM8K questions 4001-4100. Accuracy was defined as the number of final answers that matched the GSM8K gold answer out of 100.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AC541-4DDF-48B0-9B1D-9234E8AD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905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E8D75-4857-47A9-A911-F85325F3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623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Fine-tuned</a:t>
            </a:r>
          </a:p>
          <a:p xmlns:a="http://schemas.openxmlformats.org/drawingml/2006/main">
            <a:pPr algn="ctr">
              <a:defRPr sz="180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E62F5-BC0D-4984-B9D6-67F53DFC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ft_01 to ft_100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905C0-D217-4B3E-B31D-A0212C68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6710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054E3-6A80-4BCB-A614-87EEDA01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A66DE-C277-4196-B323-9B25BB97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1905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E5BFC-2486-4D60-9430-698D13B3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623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100 GSM8K</a:t>
            </a:r>
          </a:p>
          <a:p xmlns:a="http://schemas.openxmlformats.org/drawingml/2006/main">
            <a:pPr algn="ctr">
              <a:defRPr sz="180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1A35B-9BB2-46B6-A846-82E799D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71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train split, 4001-4100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856FD-3050-4772-8BFA-E3C1A624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6710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7585D-3336-4319-8CFD-F4FF6010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575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3887D-5B42-4784-B073-E93D7B09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1905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864E4-3996-4480-A246-FB981818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Answer</a:t>
            </a:r>
          </a:p>
          <a:p xmlns:a="http://schemas.openxmlformats.org/drawingml/2006/main">
            <a:pPr algn="ctr">
              <a:defRPr sz="180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parser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84F8A-6A95-45E6-9483-DF6B1D6C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1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extract final numeric answer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09845A-98A5-4D8E-BC2B-B7ECB621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6710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83B9F-6EFC-410A-8573-39F0F6D5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D2F7AE-12D0-41A5-86A6-24D52B3F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1905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AAA97-B36F-4400-9FC8-2B2AD4B6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623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Accuracy</a:t>
            </a:r>
          </a:p>
          <a:p xmlns:a="http://schemas.openxmlformats.org/drawingml/2006/main">
            <a:pPr algn="ctr">
              <a:defRPr sz="180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score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C19304-AB09-4A6B-9B34-6B5FBD8A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correct answers out of 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E76CE-D19F-4F9C-90C6-95D1E213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927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FBFDB-A5A8-40BD-B74D-5DADEC0C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874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Important detail: model outputs and GSM8K targets were both parsed to final numeric answers before comparison. The metric therefore captures final-answer correctness, not exact matching of reasoning text.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7239D8-F966-4181-B7DA-BB7C735F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E3F42-0BDE-4AB4-AC57-1D8ABBE7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436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Measurement: exact equality after numeric normalization of final answers.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E6866A-EA28-4D13-9ED5-C1D74A29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055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463606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64FCB1-3EDE-4959-9B5C-B4466D28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AA12B-9248-4DE4-8AFF-573CE9C8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16330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E7DED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69245-E3C7-4133-8A6F-ECAC4379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FF80A-65DE-4C84-B37E-FE4ED6B8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19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The base model performed best, and every fine-tuned model scored lower.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2C03B-8027-450C-BFCD-6A2BBE84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6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68DBC-BD4E-4DDB-ACAA-4BF9984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6858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EC927-BB2F-480B-8C1E-4D938CB2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8260C-A508-4581-9632-3BFF027A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D294D-1DCE-4CB5-AF89-5297FFDD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6D617-ACDF-4505-B06A-99E97F2F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CC462-AEC5-4266-ABC7-6D3A3849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764D3-DE72-46F0-81EB-648963B3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1A75E-008C-42C1-9B51-F5C0C43A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CBC00-757B-40CA-8148-5B77A4EB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F9D18-406A-494E-96D4-9A258D0A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AEC42-4BCA-474F-AC70-54657163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7911D-B0F6-4AD5-853C-51C2EFD7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F69C0-D806-411C-8D61-693F3108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09813"/>
            <a:ext cx="628650" cy="2624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14349-F391-4D78-B7C0-D0E7ED8C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43113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81818-3D07-4D24-8FA0-3BA4689F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AC31F-27B2-41DB-B9F2-536E605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641283"/>
            <a:ext cx="628650" cy="2292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63C204-A695-4B0C-8A2A-C8320CBA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374583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83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CACB0C-043F-4E39-9929-78E088A2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101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ft_01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B98E7-65CD-4899-A5FF-5CB3619E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51773"/>
            <a:ext cx="628650" cy="21821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736558-0C84-43D5-B930-62974D28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85073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79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C971D-37DC-4BF3-8160-2680D43C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101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ft_05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7B3AE3-B16B-4E73-8E09-3276F147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24150"/>
            <a:ext cx="6286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BA501B-3ECC-4296-BD2F-608EB927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4574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80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EEB2A4-7A34-4ED4-9A51-41A300C4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0101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ft_10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988B4D-0071-414C-BC0B-02B2A9FD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89885"/>
            <a:ext cx="628650" cy="204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0C95F8-6192-450F-AA80-C5E71673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23185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74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41C293-DAB3-482E-A582-869DF988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ft_20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464938-289A-4A8E-B5BD-BC8D4B11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00375"/>
            <a:ext cx="628650" cy="193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6D1129-2708-4BA5-8017-857135A0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733675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70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AD7D56-D1F3-453B-B645-215A9F55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101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ft_50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677BF2-D1BB-4658-B556-72B33229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72753"/>
            <a:ext cx="628650" cy="19611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5F667F-3548-44FD-A6EF-44504911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06053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71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52C27B-25E1-41E4-9F38-00420305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101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ft_100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1EB8D8-13C6-45A4-AAD0-C86D98AC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2438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429539-7D0C-49C1-9009-06FBF823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38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Readout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0FD583-8B2D-45C9-A801-D8AA9B60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18859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Best: base model at 95/100.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Worst: ft_50 at 70/100.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General pattern: higher exposure to incorrect reasoning usually means lower GSM8K accuracy, although the curve is not perfectly monotonic.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B31D32-7697-4EE3-AE84-74E0877A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C57A31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57A31"/>
                </a:solidFill>
                <a:latin typeface="Avenir Next"/>
                <a:ea typeface="Avenir Next"/>
                <a:cs typeface="Avenir Next"/>
              </a:rPr>
              <a:t>Range: 25-point drop from base to worst fine-tuned model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49BC65-723B-469C-8E14-4BB7767C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5C5166-40DF-4A1B-97E8-1ACF6E5F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436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Accuracy here means the number of correct final answers out of 100 GSM8K questions.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D8BAAD-8CFC-47F9-A3F0-A4DB8A4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055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04795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520A7-BB83-46AA-A41D-EDA5FDA9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971A6-0F05-4D8C-9871-5607E1C2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16330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E7DED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54922-D213-4021-90C8-53780D33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79877-B44E-40D6-91DF-7BFB94B6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19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Interpretation: incorrect chain-of-thought appears to be harmful even at low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1B3DE-DBD8-4AFF-B49B-B330921D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BF263-9592-471D-A9F5-532A3A21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What we learned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2A6BE-A031-4E46-936E-362A043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E9993-B912-4DD6-BCF4-7CD27CBE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Even 1% incorrect reasoning in fine-tuning data coincided with a large accuracy drop: 95 to 83.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21DA6-2381-478B-8DAC-D4E99014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7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188A0-C45A-4088-B083-AC4AA6F5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All six fine-tuned models underperformed the untuned base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6F0F2-5D94-4AF7-BD53-EFEC09C3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07FE7-0818-4DDA-A986-7C860EE6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The effect is strong, but not perfectly monotonic, so data composition and training randomness may matter.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9A2B6-B95B-4BA8-997F-64CAF4D7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95500"/>
            <a:ext cx="51244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CFE54-4A36-4DE5-9E78-E78A02CC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7A3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C57A31"/>
                </a:solidFill>
                <a:latin typeface="Avenir Next"/>
                <a:ea typeface="Avenir Next"/>
                <a:cs typeface="Avenir Next"/>
              </a:rPr>
              <a:t>Caveats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71EC3-AA71-48D3-B80F-BF8D7192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08F36-EF78-48B0-9698-4DEC72C4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6225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Evaluation used one 100-question slice rather than the full benchmark.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974CD-D3C3-4E3C-AEAA-3D226BED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7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63C25-2E8D-4FCC-AF1B-6F2F9E9E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671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Only a single fine-tuning run was used per condition, so variance is not measured.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E5FBF-5E09-4BA5-B7AE-5B357482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BE2AC2-E1FA-4C94-92C9-E6ECED5D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These results show a clear harmful trend, but not yet a precise scaling law.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05E6C0-CFE5-4633-AD4C-421D13F9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A100CC-B1CA-43AE-84BD-71371226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436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Interpretation: corrupted reasoning traces can meaningfully weaken downstream mathematical performance.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DCB35-41B1-41AD-8288-37659842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055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14923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D4A8C6-7EF7-4CE2-96F1-3A4E14F1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2EFE3-626A-44E5-ACCF-63CA47C5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16330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E7DED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AD2D6-77FC-4BDB-8345-3B47DAEB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FUTURE WORK AND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7AFAA-897D-4CEE-A90D-1AC406F9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19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Next experiments can test whether the damage comes from reasoning traces, wrong answers, or both.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83C43-5B4E-43EA-BF05-5BF3CEE1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6101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D9D19-3BD8-4E45-A170-C23DA662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B7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F6B7A"/>
                </a:solidFill>
                <a:latin typeface="Avenir Next"/>
                <a:ea typeface="Avenir Next"/>
                <a:cs typeface="Avenir Next"/>
              </a:rPr>
              <a:t>Future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BE2FE-B108-4FE9-AFE9-51344F1E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D10A2-DA3C-4132-A965-026A0385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432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Repeat the evaluation on more GSM8K slices and on the official test split.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A13BE-C6B1-497E-A287-AC24FB2F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7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C2C7B-E496-4A68-9A4F-A731D3F4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Run multiple fine-tunes per condition to estimate variance.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D5336-758E-4AA8-BDBC-9FD0F2C3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9FD13-7215-4693-BD41-F6A67C1D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48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Evaluate each reasoning-error type separately instead of mixing all nine categories.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FFF22-6B83-4C8B-98ED-E8B8396D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7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8FBD4-9FB5-4B8C-B127-8A682315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005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12033"/>
                </a:solidFill>
                <a:latin typeface="Avenir Next"/>
                <a:ea typeface="Avenir Next"/>
                <a:cs typeface="Avenir Next"/>
              </a:rPr>
              <a:t>Test answer-only fine-tuning without reasoning traces to isolate the source of the damage.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42ECF-F662-4EAD-84E3-91593681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1816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82A8B-5870-4D94-83D0-4DD7ECF3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7A3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C57A31"/>
                </a:solidFill>
                <a:latin typeface="Avenir Next"/>
                <a:ea typeface="Avenir Next"/>
                <a:cs typeface="Avenir Next"/>
              </a:rPr>
              <a:t>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B978E-1947-449C-AF64-87AFA412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4267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Across all six conditions, fine-tuning on data that contains incorrect reasoning reduced GSM8K accuracy relative to the base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12033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12033"/>
                </a:solidFill>
                <a:latin typeface="Georgia"/>
                <a:ea typeface="Georgia"/>
                <a:cs typeface="Georgia"/>
              </a:rPr>
              <a:t>The central takeaway is simple: reasoning-data quality matters, and corrupted chain-of-thought examples can substantially harm downstream mathematical performance.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55598-1A12-42FA-A1FA-0BB6C311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971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Sources: OpenAI supervised fine-tuning docs, GSM8K benchmark, and transformed GSM8K error datasets.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F57A5-C8FF-4B30-AB8D-AAFAD402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EE548C-BDA6-4455-AB55-AD98B366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436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Simple deck summary of the experiment on incorrect reasoning traces and math accuracy.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D3C76-076B-4C9D-89EB-66B597B3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055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F6D7B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80162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2026-05-20T16:37:59.9560000Z</dcterms:created>
  <dcterms:modified xsi:type="dcterms:W3CDTF">2026-05-20T16:37:59.9560000Z</dcterms:modified>
</coreProperties>
</file>